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5" r:id="rId2"/>
    <p:sldMasterId id="2147483696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B3C2A8-1B90-4B89-B31F-A08D6DB7E3E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BABE5D-412A-4F1A-952C-0C7D1A2B8A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Successfully designed an automatic traffic light control system using NE555 Timer and CD4017 IC </a:t>
          </a:r>
        </a:p>
      </dgm:t>
    </dgm:pt>
    <dgm:pt modelId="{E1364DBF-2B5E-4765-87DF-6307252D07BE}" type="parTrans" cxnId="{882E8DEA-2A75-4116-A68F-1FF218FACA6F}">
      <dgm:prSet/>
      <dgm:spPr/>
      <dgm:t>
        <a:bodyPr/>
        <a:lstStyle/>
        <a:p>
          <a:endParaRPr lang="en-US"/>
        </a:p>
      </dgm:t>
    </dgm:pt>
    <dgm:pt modelId="{18BD392F-5439-4D4E-9298-AF7B52D16205}" type="sibTrans" cxnId="{882E8DEA-2A75-4116-A68F-1FF218FACA6F}">
      <dgm:prSet/>
      <dgm:spPr/>
      <dgm:t>
        <a:bodyPr/>
        <a:lstStyle/>
        <a:p>
          <a:endParaRPr lang="en-US"/>
        </a:p>
      </dgm:t>
    </dgm:pt>
    <dgm:pt modelId="{04CA4882-6092-4C11-B971-1463165B5B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Achieved reliable sequential control of Red, Yellow, and Green lights </a:t>
          </a:r>
        </a:p>
      </dgm:t>
    </dgm:pt>
    <dgm:pt modelId="{604283C8-F510-4CC8-A58D-0A52733425D7}" type="parTrans" cxnId="{7BBBFD74-BAF9-4CB2-851A-8605E6C4171E}">
      <dgm:prSet/>
      <dgm:spPr/>
      <dgm:t>
        <a:bodyPr/>
        <a:lstStyle/>
        <a:p>
          <a:endParaRPr lang="en-US"/>
        </a:p>
      </dgm:t>
    </dgm:pt>
    <dgm:pt modelId="{6C592FE8-8404-4D72-9765-90871B0EBA96}" type="sibTrans" cxnId="{7BBBFD74-BAF9-4CB2-851A-8605E6C4171E}">
      <dgm:prSet/>
      <dgm:spPr/>
      <dgm:t>
        <a:bodyPr/>
        <a:lstStyle/>
        <a:p>
          <a:endParaRPr lang="en-US"/>
        </a:p>
      </dgm:t>
    </dgm:pt>
    <dgm:pt modelId="{D0FC624C-1A0D-4697-82A9-7F986C1555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System operates automatically without manual intervention </a:t>
          </a:r>
        </a:p>
      </dgm:t>
    </dgm:pt>
    <dgm:pt modelId="{567A0419-9C77-4ED0-B212-52539C74DE3A}" type="parTrans" cxnId="{1F7759D1-0D7E-4FE8-8C9C-DE09DA258B20}">
      <dgm:prSet/>
      <dgm:spPr/>
      <dgm:t>
        <a:bodyPr/>
        <a:lstStyle/>
        <a:p>
          <a:endParaRPr lang="en-US"/>
        </a:p>
      </dgm:t>
    </dgm:pt>
    <dgm:pt modelId="{5ED5D2EB-DD3B-4C06-8EF1-9593DF0471CE}" type="sibTrans" cxnId="{1F7759D1-0D7E-4FE8-8C9C-DE09DA258B20}">
      <dgm:prSet/>
      <dgm:spPr/>
      <dgm:t>
        <a:bodyPr/>
        <a:lstStyle/>
        <a:p>
          <a:endParaRPr lang="en-US"/>
        </a:p>
      </dgm:t>
    </dgm:pt>
    <dgm:pt modelId="{241E3EF9-4846-4BD6-8185-E4A6ABE34A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Simple, cost-effective, and easy to implement </a:t>
          </a:r>
        </a:p>
      </dgm:t>
    </dgm:pt>
    <dgm:pt modelId="{09A5E5A7-8754-44C2-9B8C-3F25D9380B3E}" type="parTrans" cxnId="{27783C95-672E-4B43-80BC-123273E94CEB}">
      <dgm:prSet/>
      <dgm:spPr/>
      <dgm:t>
        <a:bodyPr/>
        <a:lstStyle/>
        <a:p>
          <a:endParaRPr lang="en-US"/>
        </a:p>
      </dgm:t>
    </dgm:pt>
    <dgm:pt modelId="{51A07B72-2440-4F59-9CF0-F1BCCAF7D07B}" type="sibTrans" cxnId="{27783C95-672E-4B43-80BC-123273E94CEB}">
      <dgm:prSet/>
      <dgm:spPr/>
      <dgm:t>
        <a:bodyPr/>
        <a:lstStyle/>
        <a:p>
          <a:endParaRPr lang="en-US"/>
        </a:p>
      </dgm:t>
    </dgm:pt>
    <dgm:pt modelId="{F12F08DE-5A5D-4BC5-94BF-5FF7AA470F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Suitable for small-scale traffic management and educational use </a:t>
          </a:r>
        </a:p>
      </dgm:t>
    </dgm:pt>
    <dgm:pt modelId="{8FAA36C4-FC98-4F89-913B-C80E6C36EE1F}" type="parTrans" cxnId="{B1B7DF20-5EC3-4288-9BBF-8B120ADBA849}">
      <dgm:prSet/>
      <dgm:spPr/>
      <dgm:t>
        <a:bodyPr/>
        <a:lstStyle/>
        <a:p>
          <a:endParaRPr lang="en-US"/>
        </a:p>
      </dgm:t>
    </dgm:pt>
    <dgm:pt modelId="{549CD751-96C1-4581-9D9E-9EC773CA1E3A}" type="sibTrans" cxnId="{B1B7DF20-5EC3-4288-9BBF-8B120ADBA849}">
      <dgm:prSet/>
      <dgm:spPr/>
      <dgm:t>
        <a:bodyPr/>
        <a:lstStyle/>
        <a:p>
          <a:endParaRPr lang="en-US"/>
        </a:p>
      </dgm:t>
    </dgm:pt>
    <dgm:pt modelId="{E923B370-B154-492D-AC8B-ACB7733AE7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practical understanding of timer and counter circuits </a:t>
          </a:r>
        </a:p>
      </dgm:t>
    </dgm:pt>
    <dgm:pt modelId="{4EDA3B2D-D65C-4066-88F9-01AE42DF19CA}" type="parTrans" cxnId="{24049790-BE4C-48B8-8F79-5A31B8105BBC}">
      <dgm:prSet/>
      <dgm:spPr/>
      <dgm:t>
        <a:bodyPr/>
        <a:lstStyle/>
        <a:p>
          <a:endParaRPr lang="en-US"/>
        </a:p>
      </dgm:t>
    </dgm:pt>
    <dgm:pt modelId="{7989BCB7-AF2F-4C08-972A-497BAFA479F9}" type="sibTrans" cxnId="{24049790-BE4C-48B8-8F79-5A31B8105BBC}">
      <dgm:prSet/>
      <dgm:spPr/>
      <dgm:t>
        <a:bodyPr/>
        <a:lstStyle/>
        <a:p>
          <a:endParaRPr lang="en-US"/>
        </a:p>
      </dgm:t>
    </dgm:pt>
    <dgm:pt modelId="{D753120B-690F-435B-AD3E-1422B9D079CA}" type="pres">
      <dgm:prSet presAssocID="{03B3C2A8-1B90-4B89-B31F-A08D6DB7E3E4}" presName="root" presStyleCnt="0">
        <dgm:presLayoutVars>
          <dgm:dir/>
          <dgm:resizeHandles val="exact"/>
        </dgm:presLayoutVars>
      </dgm:prSet>
      <dgm:spPr/>
    </dgm:pt>
    <dgm:pt modelId="{A570DD5F-A88A-46A0-8002-3792A51B8D34}" type="pres">
      <dgm:prSet presAssocID="{A8BABE5D-412A-4F1A-952C-0C7D1A2B8AE0}" presName="compNode" presStyleCnt="0"/>
      <dgm:spPr/>
    </dgm:pt>
    <dgm:pt modelId="{5A23F06D-D33C-448A-818D-70852BD49D35}" type="pres">
      <dgm:prSet presAssocID="{A8BABE5D-412A-4F1A-952C-0C7D1A2B8AE0}" presName="bgRect" presStyleLbl="bgShp" presStyleIdx="0" presStyleCnt="6"/>
      <dgm:spPr/>
    </dgm:pt>
    <dgm:pt modelId="{BE162090-13D9-4E72-B2D4-AEA6A583790E}" type="pres">
      <dgm:prSet presAssocID="{A8BABE5D-412A-4F1A-952C-0C7D1A2B8AE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C5E9E8D-2A8A-4A85-8A3E-7510AE46A4DC}" type="pres">
      <dgm:prSet presAssocID="{A8BABE5D-412A-4F1A-952C-0C7D1A2B8AE0}" presName="spaceRect" presStyleCnt="0"/>
      <dgm:spPr/>
    </dgm:pt>
    <dgm:pt modelId="{7EAA9488-BACE-402C-9CA3-D4D05CD430D3}" type="pres">
      <dgm:prSet presAssocID="{A8BABE5D-412A-4F1A-952C-0C7D1A2B8AE0}" presName="parTx" presStyleLbl="revTx" presStyleIdx="0" presStyleCnt="6">
        <dgm:presLayoutVars>
          <dgm:chMax val="0"/>
          <dgm:chPref val="0"/>
        </dgm:presLayoutVars>
      </dgm:prSet>
      <dgm:spPr/>
    </dgm:pt>
    <dgm:pt modelId="{9B2DFAD1-A78E-4F54-BF2A-F1CD29BDCAB8}" type="pres">
      <dgm:prSet presAssocID="{18BD392F-5439-4D4E-9298-AF7B52D16205}" presName="sibTrans" presStyleCnt="0"/>
      <dgm:spPr/>
    </dgm:pt>
    <dgm:pt modelId="{F89238B6-B814-4794-A3EA-F0A699D8A9C9}" type="pres">
      <dgm:prSet presAssocID="{04CA4882-6092-4C11-B971-1463165B5B38}" presName="compNode" presStyleCnt="0"/>
      <dgm:spPr/>
    </dgm:pt>
    <dgm:pt modelId="{8D5C0165-946E-42A0-BB5E-0B3108DAED87}" type="pres">
      <dgm:prSet presAssocID="{04CA4882-6092-4C11-B971-1463165B5B38}" presName="bgRect" presStyleLbl="bgShp" presStyleIdx="1" presStyleCnt="6"/>
      <dgm:spPr/>
    </dgm:pt>
    <dgm:pt modelId="{BE586BC7-AD77-4FF9-BFCE-90D8F356679A}" type="pres">
      <dgm:prSet presAssocID="{04CA4882-6092-4C11-B971-1463165B5B3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343D3EE7-1F31-4AB5-A7F8-362159815D9E}" type="pres">
      <dgm:prSet presAssocID="{04CA4882-6092-4C11-B971-1463165B5B38}" presName="spaceRect" presStyleCnt="0"/>
      <dgm:spPr/>
    </dgm:pt>
    <dgm:pt modelId="{BB90C04F-6550-4966-985B-CCF2B3889FB4}" type="pres">
      <dgm:prSet presAssocID="{04CA4882-6092-4C11-B971-1463165B5B38}" presName="parTx" presStyleLbl="revTx" presStyleIdx="1" presStyleCnt="6">
        <dgm:presLayoutVars>
          <dgm:chMax val="0"/>
          <dgm:chPref val="0"/>
        </dgm:presLayoutVars>
      </dgm:prSet>
      <dgm:spPr/>
    </dgm:pt>
    <dgm:pt modelId="{BC3D0A83-99F1-4AA7-940E-BB28BA89F78A}" type="pres">
      <dgm:prSet presAssocID="{6C592FE8-8404-4D72-9765-90871B0EBA96}" presName="sibTrans" presStyleCnt="0"/>
      <dgm:spPr/>
    </dgm:pt>
    <dgm:pt modelId="{5356FEF3-5CB7-4D24-8496-EC75E4B51311}" type="pres">
      <dgm:prSet presAssocID="{D0FC624C-1A0D-4697-82A9-7F986C15558C}" presName="compNode" presStyleCnt="0"/>
      <dgm:spPr/>
    </dgm:pt>
    <dgm:pt modelId="{0613F8CC-DB61-4A15-8692-ADA76A93473C}" type="pres">
      <dgm:prSet presAssocID="{D0FC624C-1A0D-4697-82A9-7F986C15558C}" presName="bgRect" presStyleLbl="bgShp" presStyleIdx="2" presStyleCnt="6"/>
      <dgm:spPr/>
    </dgm:pt>
    <dgm:pt modelId="{38AB1E5B-4362-4674-A6F1-1BA25A625256}" type="pres">
      <dgm:prSet presAssocID="{D0FC624C-1A0D-4697-82A9-7F986C15558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E184982-3B89-4A8E-90C9-BCCE09CCFB56}" type="pres">
      <dgm:prSet presAssocID="{D0FC624C-1A0D-4697-82A9-7F986C15558C}" presName="spaceRect" presStyleCnt="0"/>
      <dgm:spPr/>
    </dgm:pt>
    <dgm:pt modelId="{18EECAF8-DFDB-4AFE-8018-95C3654D48AA}" type="pres">
      <dgm:prSet presAssocID="{D0FC624C-1A0D-4697-82A9-7F986C15558C}" presName="parTx" presStyleLbl="revTx" presStyleIdx="2" presStyleCnt="6">
        <dgm:presLayoutVars>
          <dgm:chMax val="0"/>
          <dgm:chPref val="0"/>
        </dgm:presLayoutVars>
      </dgm:prSet>
      <dgm:spPr/>
    </dgm:pt>
    <dgm:pt modelId="{A489FADA-0134-41E0-BA4F-0CB274A0FC50}" type="pres">
      <dgm:prSet presAssocID="{5ED5D2EB-DD3B-4C06-8EF1-9593DF0471CE}" presName="sibTrans" presStyleCnt="0"/>
      <dgm:spPr/>
    </dgm:pt>
    <dgm:pt modelId="{D7D4B502-A3B2-449E-AB47-91484C1C964D}" type="pres">
      <dgm:prSet presAssocID="{241E3EF9-4846-4BD6-8185-E4A6ABE34A83}" presName="compNode" presStyleCnt="0"/>
      <dgm:spPr/>
    </dgm:pt>
    <dgm:pt modelId="{650260F9-1EC5-44BB-B629-E6911AC19B2C}" type="pres">
      <dgm:prSet presAssocID="{241E3EF9-4846-4BD6-8185-E4A6ABE34A83}" presName="bgRect" presStyleLbl="bgShp" presStyleIdx="3" presStyleCnt="6"/>
      <dgm:spPr/>
    </dgm:pt>
    <dgm:pt modelId="{E32D01B2-49F9-435C-A97B-144F0FB768A1}" type="pres">
      <dgm:prSet presAssocID="{241E3EF9-4846-4BD6-8185-E4A6ABE34A8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A5534E54-F1DC-4DD2-9551-7BE9D31C86F9}" type="pres">
      <dgm:prSet presAssocID="{241E3EF9-4846-4BD6-8185-E4A6ABE34A83}" presName="spaceRect" presStyleCnt="0"/>
      <dgm:spPr/>
    </dgm:pt>
    <dgm:pt modelId="{3544D96B-A911-4B3B-9AD3-039D07A477E7}" type="pres">
      <dgm:prSet presAssocID="{241E3EF9-4846-4BD6-8185-E4A6ABE34A83}" presName="parTx" presStyleLbl="revTx" presStyleIdx="3" presStyleCnt="6">
        <dgm:presLayoutVars>
          <dgm:chMax val="0"/>
          <dgm:chPref val="0"/>
        </dgm:presLayoutVars>
      </dgm:prSet>
      <dgm:spPr/>
    </dgm:pt>
    <dgm:pt modelId="{CE9DABD0-964E-4519-A582-734F19BEFF01}" type="pres">
      <dgm:prSet presAssocID="{51A07B72-2440-4F59-9CF0-F1BCCAF7D07B}" presName="sibTrans" presStyleCnt="0"/>
      <dgm:spPr/>
    </dgm:pt>
    <dgm:pt modelId="{1D6C8DE4-BC8E-4FD0-B419-7F70C7759A23}" type="pres">
      <dgm:prSet presAssocID="{F12F08DE-5A5D-4BC5-94BF-5FF7AA470FAE}" presName="compNode" presStyleCnt="0"/>
      <dgm:spPr/>
    </dgm:pt>
    <dgm:pt modelId="{B4F06B37-603C-44F5-ABC4-1257DB4390D6}" type="pres">
      <dgm:prSet presAssocID="{F12F08DE-5A5D-4BC5-94BF-5FF7AA470FAE}" presName="bgRect" presStyleLbl="bgShp" presStyleIdx="4" presStyleCnt="6"/>
      <dgm:spPr/>
    </dgm:pt>
    <dgm:pt modelId="{24B3F394-DC0C-44CE-8CEC-666236CAB5A7}" type="pres">
      <dgm:prSet presAssocID="{F12F08DE-5A5D-4BC5-94BF-5FF7AA470FA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87033751-AFD5-4390-AE4A-CD22427C8EA2}" type="pres">
      <dgm:prSet presAssocID="{F12F08DE-5A5D-4BC5-94BF-5FF7AA470FAE}" presName="spaceRect" presStyleCnt="0"/>
      <dgm:spPr/>
    </dgm:pt>
    <dgm:pt modelId="{DDEB72DA-FEAB-451B-A619-746686324BA2}" type="pres">
      <dgm:prSet presAssocID="{F12F08DE-5A5D-4BC5-94BF-5FF7AA470FAE}" presName="parTx" presStyleLbl="revTx" presStyleIdx="4" presStyleCnt="6">
        <dgm:presLayoutVars>
          <dgm:chMax val="0"/>
          <dgm:chPref val="0"/>
        </dgm:presLayoutVars>
      </dgm:prSet>
      <dgm:spPr/>
    </dgm:pt>
    <dgm:pt modelId="{D5E1A284-5252-41D7-BC4D-0139B0561FDC}" type="pres">
      <dgm:prSet presAssocID="{549CD751-96C1-4581-9D9E-9EC773CA1E3A}" presName="sibTrans" presStyleCnt="0"/>
      <dgm:spPr/>
    </dgm:pt>
    <dgm:pt modelId="{54ACB56B-57D2-4BD7-8DB3-403B207F1DFA}" type="pres">
      <dgm:prSet presAssocID="{E923B370-B154-492D-AC8B-ACB7733AE79F}" presName="compNode" presStyleCnt="0"/>
      <dgm:spPr/>
    </dgm:pt>
    <dgm:pt modelId="{3468C5E7-AAC1-4BFC-81DC-9F9BEEEAF2A5}" type="pres">
      <dgm:prSet presAssocID="{E923B370-B154-492D-AC8B-ACB7733AE79F}" presName="bgRect" presStyleLbl="bgShp" presStyleIdx="5" presStyleCnt="6"/>
      <dgm:spPr/>
    </dgm:pt>
    <dgm:pt modelId="{A6EFCD46-2DFB-4998-8902-075B37B7C669}" type="pres">
      <dgm:prSet presAssocID="{E923B370-B154-492D-AC8B-ACB7733AE79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1487EA5A-C9D4-4E7D-A9CC-A24E5088E6C8}" type="pres">
      <dgm:prSet presAssocID="{E923B370-B154-492D-AC8B-ACB7733AE79F}" presName="spaceRect" presStyleCnt="0"/>
      <dgm:spPr/>
    </dgm:pt>
    <dgm:pt modelId="{1A4CA10F-6FEA-46C8-A8AC-DA2D72087F60}" type="pres">
      <dgm:prSet presAssocID="{E923B370-B154-492D-AC8B-ACB7733AE79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4090306-2A04-41DF-BFDC-B014A6AD13C5}" type="presOf" srcId="{A8BABE5D-412A-4F1A-952C-0C7D1A2B8AE0}" destId="{7EAA9488-BACE-402C-9CA3-D4D05CD430D3}" srcOrd="0" destOrd="0" presId="urn:microsoft.com/office/officeart/2018/2/layout/IconVerticalSolidList"/>
    <dgm:cxn modelId="{B1B7DF20-5EC3-4288-9BBF-8B120ADBA849}" srcId="{03B3C2A8-1B90-4B89-B31F-A08D6DB7E3E4}" destId="{F12F08DE-5A5D-4BC5-94BF-5FF7AA470FAE}" srcOrd="4" destOrd="0" parTransId="{8FAA36C4-FC98-4F89-913B-C80E6C36EE1F}" sibTransId="{549CD751-96C1-4581-9D9E-9EC773CA1E3A}"/>
    <dgm:cxn modelId="{3567BE25-075B-4773-B08C-FB0CABA4F812}" type="presOf" srcId="{E923B370-B154-492D-AC8B-ACB7733AE79F}" destId="{1A4CA10F-6FEA-46C8-A8AC-DA2D72087F60}" srcOrd="0" destOrd="0" presId="urn:microsoft.com/office/officeart/2018/2/layout/IconVerticalSolidList"/>
    <dgm:cxn modelId="{0300DF34-DAC1-484C-BBD5-5C820BB51F8C}" type="presOf" srcId="{241E3EF9-4846-4BD6-8185-E4A6ABE34A83}" destId="{3544D96B-A911-4B3B-9AD3-039D07A477E7}" srcOrd="0" destOrd="0" presId="urn:microsoft.com/office/officeart/2018/2/layout/IconVerticalSolidList"/>
    <dgm:cxn modelId="{53309847-1A00-44C4-B356-0FDDE8D3C50C}" type="presOf" srcId="{03B3C2A8-1B90-4B89-B31F-A08D6DB7E3E4}" destId="{D753120B-690F-435B-AD3E-1422B9D079CA}" srcOrd="0" destOrd="0" presId="urn:microsoft.com/office/officeart/2018/2/layout/IconVerticalSolidList"/>
    <dgm:cxn modelId="{7BBBFD74-BAF9-4CB2-851A-8605E6C4171E}" srcId="{03B3C2A8-1B90-4B89-B31F-A08D6DB7E3E4}" destId="{04CA4882-6092-4C11-B971-1463165B5B38}" srcOrd="1" destOrd="0" parTransId="{604283C8-F510-4CC8-A58D-0A52733425D7}" sibTransId="{6C592FE8-8404-4D72-9765-90871B0EBA96}"/>
    <dgm:cxn modelId="{24049790-BE4C-48B8-8F79-5A31B8105BBC}" srcId="{03B3C2A8-1B90-4B89-B31F-A08D6DB7E3E4}" destId="{E923B370-B154-492D-AC8B-ACB7733AE79F}" srcOrd="5" destOrd="0" parTransId="{4EDA3B2D-D65C-4066-88F9-01AE42DF19CA}" sibTransId="{7989BCB7-AF2F-4C08-972A-497BAFA479F9}"/>
    <dgm:cxn modelId="{27783C95-672E-4B43-80BC-123273E94CEB}" srcId="{03B3C2A8-1B90-4B89-B31F-A08D6DB7E3E4}" destId="{241E3EF9-4846-4BD6-8185-E4A6ABE34A83}" srcOrd="3" destOrd="0" parTransId="{09A5E5A7-8754-44C2-9B8C-3F25D9380B3E}" sibTransId="{51A07B72-2440-4F59-9CF0-F1BCCAF7D07B}"/>
    <dgm:cxn modelId="{BAEDC9AA-3D7D-4362-B6AE-0D2BF7BA797C}" type="presOf" srcId="{D0FC624C-1A0D-4697-82A9-7F986C15558C}" destId="{18EECAF8-DFDB-4AFE-8018-95C3654D48AA}" srcOrd="0" destOrd="0" presId="urn:microsoft.com/office/officeart/2018/2/layout/IconVerticalSolidList"/>
    <dgm:cxn modelId="{BF8902CC-0B35-40DB-B2AC-F6674301B953}" type="presOf" srcId="{F12F08DE-5A5D-4BC5-94BF-5FF7AA470FAE}" destId="{DDEB72DA-FEAB-451B-A619-746686324BA2}" srcOrd="0" destOrd="0" presId="urn:microsoft.com/office/officeart/2018/2/layout/IconVerticalSolidList"/>
    <dgm:cxn modelId="{1F7759D1-0D7E-4FE8-8C9C-DE09DA258B20}" srcId="{03B3C2A8-1B90-4B89-B31F-A08D6DB7E3E4}" destId="{D0FC624C-1A0D-4697-82A9-7F986C15558C}" srcOrd="2" destOrd="0" parTransId="{567A0419-9C77-4ED0-B212-52539C74DE3A}" sibTransId="{5ED5D2EB-DD3B-4C06-8EF1-9593DF0471CE}"/>
    <dgm:cxn modelId="{882E8DEA-2A75-4116-A68F-1FF218FACA6F}" srcId="{03B3C2A8-1B90-4B89-B31F-A08D6DB7E3E4}" destId="{A8BABE5D-412A-4F1A-952C-0C7D1A2B8AE0}" srcOrd="0" destOrd="0" parTransId="{E1364DBF-2B5E-4765-87DF-6307252D07BE}" sibTransId="{18BD392F-5439-4D4E-9298-AF7B52D16205}"/>
    <dgm:cxn modelId="{621715F5-E2CD-44D3-A27A-2C7232F8DA0E}" type="presOf" srcId="{04CA4882-6092-4C11-B971-1463165B5B38}" destId="{BB90C04F-6550-4966-985B-CCF2B3889FB4}" srcOrd="0" destOrd="0" presId="urn:microsoft.com/office/officeart/2018/2/layout/IconVerticalSolidList"/>
    <dgm:cxn modelId="{BB0B30B4-3FAA-446C-8BDC-82F1BED7B6C6}" type="presParOf" srcId="{D753120B-690F-435B-AD3E-1422B9D079CA}" destId="{A570DD5F-A88A-46A0-8002-3792A51B8D34}" srcOrd="0" destOrd="0" presId="urn:microsoft.com/office/officeart/2018/2/layout/IconVerticalSolidList"/>
    <dgm:cxn modelId="{3BFCA840-237D-4012-8093-64EDC482D34E}" type="presParOf" srcId="{A570DD5F-A88A-46A0-8002-3792A51B8D34}" destId="{5A23F06D-D33C-448A-818D-70852BD49D35}" srcOrd="0" destOrd="0" presId="urn:microsoft.com/office/officeart/2018/2/layout/IconVerticalSolidList"/>
    <dgm:cxn modelId="{B210DB1C-7837-4765-AD78-E16B3807C622}" type="presParOf" srcId="{A570DD5F-A88A-46A0-8002-3792A51B8D34}" destId="{BE162090-13D9-4E72-B2D4-AEA6A583790E}" srcOrd="1" destOrd="0" presId="urn:microsoft.com/office/officeart/2018/2/layout/IconVerticalSolidList"/>
    <dgm:cxn modelId="{C3A4FFDD-2F22-4FD6-A273-B90DB219E6CF}" type="presParOf" srcId="{A570DD5F-A88A-46A0-8002-3792A51B8D34}" destId="{9C5E9E8D-2A8A-4A85-8A3E-7510AE46A4DC}" srcOrd="2" destOrd="0" presId="urn:microsoft.com/office/officeart/2018/2/layout/IconVerticalSolidList"/>
    <dgm:cxn modelId="{44296EDC-0814-4086-B936-B98C3778736B}" type="presParOf" srcId="{A570DD5F-A88A-46A0-8002-3792A51B8D34}" destId="{7EAA9488-BACE-402C-9CA3-D4D05CD430D3}" srcOrd="3" destOrd="0" presId="urn:microsoft.com/office/officeart/2018/2/layout/IconVerticalSolidList"/>
    <dgm:cxn modelId="{E06F8B41-6B3C-40C9-A1B4-DFD82C470A84}" type="presParOf" srcId="{D753120B-690F-435B-AD3E-1422B9D079CA}" destId="{9B2DFAD1-A78E-4F54-BF2A-F1CD29BDCAB8}" srcOrd="1" destOrd="0" presId="urn:microsoft.com/office/officeart/2018/2/layout/IconVerticalSolidList"/>
    <dgm:cxn modelId="{974EF5D5-2A5E-4343-AF5F-591590AFBE2D}" type="presParOf" srcId="{D753120B-690F-435B-AD3E-1422B9D079CA}" destId="{F89238B6-B814-4794-A3EA-F0A699D8A9C9}" srcOrd="2" destOrd="0" presId="urn:microsoft.com/office/officeart/2018/2/layout/IconVerticalSolidList"/>
    <dgm:cxn modelId="{5237432C-B677-43AC-B95A-B6EF5F4C9768}" type="presParOf" srcId="{F89238B6-B814-4794-A3EA-F0A699D8A9C9}" destId="{8D5C0165-946E-42A0-BB5E-0B3108DAED87}" srcOrd="0" destOrd="0" presId="urn:microsoft.com/office/officeart/2018/2/layout/IconVerticalSolidList"/>
    <dgm:cxn modelId="{803B2BD9-8E04-44C8-B939-2A1960260F5C}" type="presParOf" srcId="{F89238B6-B814-4794-A3EA-F0A699D8A9C9}" destId="{BE586BC7-AD77-4FF9-BFCE-90D8F356679A}" srcOrd="1" destOrd="0" presId="urn:microsoft.com/office/officeart/2018/2/layout/IconVerticalSolidList"/>
    <dgm:cxn modelId="{D52E8A5D-5C72-4C70-A335-8C4D6428702A}" type="presParOf" srcId="{F89238B6-B814-4794-A3EA-F0A699D8A9C9}" destId="{343D3EE7-1F31-4AB5-A7F8-362159815D9E}" srcOrd="2" destOrd="0" presId="urn:microsoft.com/office/officeart/2018/2/layout/IconVerticalSolidList"/>
    <dgm:cxn modelId="{1F39CD6B-B45F-4DEA-836A-9129F066BA16}" type="presParOf" srcId="{F89238B6-B814-4794-A3EA-F0A699D8A9C9}" destId="{BB90C04F-6550-4966-985B-CCF2B3889FB4}" srcOrd="3" destOrd="0" presId="urn:microsoft.com/office/officeart/2018/2/layout/IconVerticalSolidList"/>
    <dgm:cxn modelId="{F39D7D87-361F-4AB6-B9BC-F8FE55BEEF6F}" type="presParOf" srcId="{D753120B-690F-435B-AD3E-1422B9D079CA}" destId="{BC3D0A83-99F1-4AA7-940E-BB28BA89F78A}" srcOrd="3" destOrd="0" presId="urn:microsoft.com/office/officeart/2018/2/layout/IconVerticalSolidList"/>
    <dgm:cxn modelId="{643D5D27-216A-4223-88B3-AC51965205C8}" type="presParOf" srcId="{D753120B-690F-435B-AD3E-1422B9D079CA}" destId="{5356FEF3-5CB7-4D24-8496-EC75E4B51311}" srcOrd="4" destOrd="0" presId="urn:microsoft.com/office/officeart/2018/2/layout/IconVerticalSolidList"/>
    <dgm:cxn modelId="{F8DE89F4-5868-4927-A0A9-462AD4A8FD50}" type="presParOf" srcId="{5356FEF3-5CB7-4D24-8496-EC75E4B51311}" destId="{0613F8CC-DB61-4A15-8692-ADA76A93473C}" srcOrd="0" destOrd="0" presId="urn:microsoft.com/office/officeart/2018/2/layout/IconVerticalSolidList"/>
    <dgm:cxn modelId="{A6F59F36-F4EE-49F7-A19B-BE132A096533}" type="presParOf" srcId="{5356FEF3-5CB7-4D24-8496-EC75E4B51311}" destId="{38AB1E5B-4362-4674-A6F1-1BA25A625256}" srcOrd="1" destOrd="0" presId="urn:microsoft.com/office/officeart/2018/2/layout/IconVerticalSolidList"/>
    <dgm:cxn modelId="{0B6F95A0-D0B4-465E-8605-D00DED008404}" type="presParOf" srcId="{5356FEF3-5CB7-4D24-8496-EC75E4B51311}" destId="{DE184982-3B89-4A8E-90C9-BCCE09CCFB56}" srcOrd="2" destOrd="0" presId="urn:microsoft.com/office/officeart/2018/2/layout/IconVerticalSolidList"/>
    <dgm:cxn modelId="{0367E9C5-CB3F-41DB-9E27-8015CC4D00CA}" type="presParOf" srcId="{5356FEF3-5CB7-4D24-8496-EC75E4B51311}" destId="{18EECAF8-DFDB-4AFE-8018-95C3654D48AA}" srcOrd="3" destOrd="0" presId="urn:microsoft.com/office/officeart/2018/2/layout/IconVerticalSolidList"/>
    <dgm:cxn modelId="{1AFEA4C5-CFC6-4535-822C-7BE52A2B021E}" type="presParOf" srcId="{D753120B-690F-435B-AD3E-1422B9D079CA}" destId="{A489FADA-0134-41E0-BA4F-0CB274A0FC50}" srcOrd="5" destOrd="0" presId="urn:microsoft.com/office/officeart/2018/2/layout/IconVerticalSolidList"/>
    <dgm:cxn modelId="{A263BC6B-5A26-4DF6-9D2E-98FE3E08654A}" type="presParOf" srcId="{D753120B-690F-435B-AD3E-1422B9D079CA}" destId="{D7D4B502-A3B2-449E-AB47-91484C1C964D}" srcOrd="6" destOrd="0" presId="urn:microsoft.com/office/officeart/2018/2/layout/IconVerticalSolidList"/>
    <dgm:cxn modelId="{13172728-5635-4D67-8631-3D60188F3232}" type="presParOf" srcId="{D7D4B502-A3B2-449E-AB47-91484C1C964D}" destId="{650260F9-1EC5-44BB-B629-E6911AC19B2C}" srcOrd="0" destOrd="0" presId="urn:microsoft.com/office/officeart/2018/2/layout/IconVerticalSolidList"/>
    <dgm:cxn modelId="{4F55E8D9-580A-4C74-B28A-095D56CB1AF2}" type="presParOf" srcId="{D7D4B502-A3B2-449E-AB47-91484C1C964D}" destId="{E32D01B2-49F9-435C-A97B-144F0FB768A1}" srcOrd="1" destOrd="0" presId="urn:microsoft.com/office/officeart/2018/2/layout/IconVerticalSolidList"/>
    <dgm:cxn modelId="{50DD2C2D-5826-4D87-9DB0-1144372403D0}" type="presParOf" srcId="{D7D4B502-A3B2-449E-AB47-91484C1C964D}" destId="{A5534E54-F1DC-4DD2-9551-7BE9D31C86F9}" srcOrd="2" destOrd="0" presId="urn:microsoft.com/office/officeart/2018/2/layout/IconVerticalSolidList"/>
    <dgm:cxn modelId="{6F6219A9-A502-475E-B503-458AB673FCF6}" type="presParOf" srcId="{D7D4B502-A3B2-449E-AB47-91484C1C964D}" destId="{3544D96B-A911-4B3B-9AD3-039D07A477E7}" srcOrd="3" destOrd="0" presId="urn:microsoft.com/office/officeart/2018/2/layout/IconVerticalSolidList"/>
    <dgm:cxn modelId="{1D6576F6-3E9A-4778-8C94-BB678EEE3A0F}" type="presParOf" srcId="{D753120B-690F-435B-AD3E-1422B9D079CA}" destId="{CE9DABD0-964E-4519-A582-734F19BEFF01}" srcOrd="7" destOrd="0" presId="urn:microsoft.com/office/officeart/2018/2/layout/IconVerticalSolidList"/>
    <dgm:cxn modelId="{5971D5A7-5A86-43C8-86A0-B67A2244E0F9}" type="presParOf" srcId="{D753120B-690F-435B-AD3E-1422B9D079CA}" destId="{1D6C8DE4-BC8E-4FD0-B419-7F70C7759A23}" srcOrd="8" destOrd="0" presId="urn:microsoft.com/office/officeart/2018/2/layout/IconVerticalSolidList"/>
    <dgm:cxn modelId="{20A5E3CD-52CE-4FDE-B83D-A7AD3AF16C9C}" type="presParOf" srcId="{1D6C8DE4-BC8E-4FD0-B419-7F70C7759A23}" destId="{B4F06B37-603C-44F5-ABC4-1257DB4390D6}" srcOrd="0" destOrd="0" presId="urn:microsoft.com/office/officeart/2018/2/layout/IconVerticalSolidList"/>
    <dgm:cxn modelId="{708069FE-4E72-4E37-B96E-285E1F097B0D}" type="presParOf" srcId="{1D6C8DE4-BC8E-4FD0-B419-7F70C7759A23}" destId="{24B3F394-DC0C-44CE-8CEC-666236CAB5A7}" srcOrd="1" destOrd="0" presId="urn:microsoft.com/office/officeart/2018/2/layout/IconVerticalSolidList"/>
    <dgm:cxn modelId="{66BC2638-86F6-4512-844D-4477D25F4EBD}" type="presParOf" srcId="{1D6C8DE4-BC8E-4FD0-B419-7F70C7759A23}" destId="{87033751-AFD5-4390-AE4A-CD22427C8EA2}" srcOrd="2" destOrd="0" presId="urn:microsoft.com/office/officeart/2018/2/layout/IconVerticalSolidList"/>
    <dgm:cxn modelId="{68A7A10A-8F97-4EC1-B6A5-848292DD90D2}" type="presParOf" srcId="{1D6C8DE4-BC8E-4FD0-B419-7F70C7759A23}" destId="{DDEB72DA-FEAB-451B-A619-746686324BA2}" srcOrd="3" destOrd="0" presId="urn:microsoft.com/office/officeart/2018/2/layout/IconVerticalSolidList"/>
    <dgm:cxn modelId="{B0FF6AB1-5C64-465C-A07A-E1D1B8245775}" type="presParOf" srcId="{D753120B-690F-435B-AD3E-1422B9D079CA}" destId="{D5E1A284-5252-41D7-BC4D-0139B0561FDC}" srcOrd="9" destOrd="0" presId="urn:microsoft.com/office/officeart/2018/2/layout/IconVerticalSolidList"/>
    <dgm:cxn modelId="{3DE28710-85AB-4572-9E5B-CC1BF7ED6BBA}" type="presParOf" srcId="{D753120B-690F-435B-AD3E-1422B9D079CA}" destId="{54ACB56B-57D2-4BD7-8DB3-403B207F1DFA}" srcOrd="10" destOrd="0" presId="urn:microsoft.com/office/officeart/2018/2/layout/IconVerticalSolidList"/>
    <dgm:cxn modelId="{54F1D2D2-4AFE-4BEA-8778-E7214D2D44D7}" type="presParOf" srcId="{54ACB56B-57D2-4BD7-8DB3-403B207F1DFA}" destId="{3468C5E7-AAC1-4BFC-81DC-9F9BEEEAF2A5}" srcOrd="0" destOrd="0" presId="urn:microsoft.com/office/officeart/2018/2/layout/IconVerticalSolidList"/>
    <dgm:cxn modelId="{8630C156-3F45-4D8B-9937-930A0D8E1CAD}" type="presParOf" srcId="{54ACB56B-57D2-4BD7-8DB3-403B207F1DFA}" destId="{A6EFCD46-2DFB-4998-8902-075B37B7C669}" srcOrd="1" destOrd="0" presId="urn:microsoft.com/office/officeart/2018/2/layout/IconVerticalSolidList"/>
    <dgm:cxn modelId="{D972EEAD-96C0-4EF8-861C-F9391C332B2C}" type="presParOf" srcId="{54ACB56B-57D2-4BD7-8DB3-403B207F1DFA}" destId="{1487EA5A-C9D4-4E7D-A9CC-A24E5088E6C8}" srcOrd="2" destOrd="0" presId="urn:microsoft.com/office/officeart/2018/2/layout/IconVerticalSolidList"/>
    <dgm:cxn modelId="{400D71C1-A81A-4257-A8B9-00343CCA4059}" type="presParOf" srcId="{54ACB56B-57D2-4BD7-8DB3-403B207F1DFA}" destId="{1A4CA10F-6FEA-46C8-A8AC-DA2D72087F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3F06D-D33C-448A-818D-70852BD49D35}">
      <dsp:nvSpPr>
        <dsp:cNvPr id="0" name=""/>
        <dsp:cNvSpPr/>
      </dsp:nvSpPr>
      <dsp:spPr>
        <a:xfrm>
          <a:off x="0" y="1363"/>
          <a:ext cx="4387168" cy="5808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162090-13D9-4E72-B2D4-AEA6A583790E}">
      <dsp:nvSpPr>
        <dsp:cNvPr id="0" name=""/>
        <dsp:cNvSpPr/>
      </dsp:nvSpPr>
      <dsp:spPr>
        <a:xfrm>
          <a:off x="175706" y="132053"/>
          <a:ext cx="319466" cy="319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A9488-BACE-402C-9CA3-D4D05CD430D3}">
      <dsp:nvSpPr>
        <dsp:cNvPr id="0" name=""/>
        <dsp:cNvSpPr/>
      </dsp:nvSpPr>
      <dsp:spPr>
        <a:xfrm>
          <a:off x="670879" y="1363"/>
          <a:ext cx="3716288" cy="58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3" tIns="61473" rIns="61473" bIns="614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Successfully designed an automatic traffic light control system using NE555 Timer and CD4017 IC </a:t>
          </a:r>
        </a:p>
      </dsp:txBody>
      <dsp:txXfrm>
        <a:off x="670879" y="1363"/>
        <a:ext cx="3716288" cy="580848"/>
      </dsp:txXfrm>
    </dsp:sp>
    <dsp:sp modelId="{8D5C0165-946E-42A0-BB5E-0B3108DAED87}">
      <dsp:nvSpPr>
        <dsp:cNvPr id="0" name=""/>
        <dsp:cNvSpPr/>
      </dsp:nvSpPr>
      <dsp:spPr>
        <a:xfrm>
          <a:off x="0" y="727423"/>
          <a:ext cx="4387168" cy="5808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586BC7-AD77-4FF9-BFCE-90D8F356679A}">
      <dsp:nvSpPr>
        <dsp:cNvPr id="0" name=""/>
        <dsp:cNvSpPr/>
      </dsp:nvSpPr>
      <dsp:spPr>
        <a:xfrm>
          <a:off x="175706" y="858114"/>
          <a:ext cx="319466" cy="319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0C04F-6550-4966-985B-CCF2B3889FB4}">
      <dsp:nvSpPr>
        <dsp:cNvPr id="0" name=""/>
        <dsp:cNvSpPr/>
      </dsp:nvSpPr>
      <dsp:spPr>
        <a:xfrm>
          <a:off x="670879" y="727423"/>
          <a:ext cx="3716288" cy="58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3" tIns="61473" rIns="61473" bIns="614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Achieved reliable sequential control of Red, Yellow, and Green lights </a:t>
          </a:r>
        </a:p>
      </dsp:txBody>
      <dsp:txXfrm>
        <a:off x="670879" y="727423"/>
        <a:ext cx="3716288" cy="580848"/>
      </dsp:txXfrm>
    </dsp:sp>
    <dsp:sp modelId="{0613F8CC-DB61-4A15-8692-ADA76A93473C}">
      <dsp:nvSpPr>
        <dsp:cNvPr id="0" name=""/>
        <dsp:cNvSpPr/>
      </dsp:nvSpPr>
      <dsp:spPr>
        <a:xfrm>
          <a:off x="0" y="1453483"/>
          <a:ext cx="4387168" cy="5808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B1E5B-4362-4674-A6F1-1BA25A625256}">
      <dsp:nvSpPr>
        <dsp:cNvPr id="0" name=""/>
        <dsp:cNvSpPr/>
      </dsp:nvSpPr>
      <dsp:spPr>
        <a:xfrm>
          <a:off x="175706" y="1584174"/>
          <a:ext cx="319466" cy="319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ECAF8-DFDB-4AFE-8018-95C3654D48AA}">
      <dsp:nvSpPr>
        <dsp:cNvPr id="0" name=""/>
        <dsp:cNvSpPr/>
      </dsp:nvSpPr>
      <dsp:spPr>
        <a:xfrm>
          <a:off x="670879" y="1453483"/>
          <a:ext cx="3716288" cy="58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3" tIns="61473" rIns="61473" bIns="614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System operates automatically without manual intervention </a:t>
          </a:r>
        </a:p>
      </dsp:txBody>
      <dsp:txXfrm>
        <a:off x="670879" y="1453483"/>
        <a:ext cx="3716288" cy="580848"/>
      </dsp:txXfrm>
    </dsp:sp>
    <dsp:sp modelId="{650260F9-1EC5-44BB-B629-E6911AC19B2C}">
      <dsp:nvSpPr>
        <dsp:cNvPr id="0" name=""/>
        <dsp:cNvSpPr/>
      </dsp:nvSpPr>
      <dsp:spPr>
        <a:xfrm>
          <a:off x="0" y="2179543"/>
          <a:ext cx="4387168" cy="5808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D01B2-49F9-435C-A97B-144F0FB768A1}">
      <dsp:nvSpPr>
        <dsp:cNvPr id="0" name=""/>
        <dsp:cNvSpPr/>
      </dsp:nvSpPr>
      <dsp:spPr>
        <a:xfrm>
          <a:off x="175706" y="2310234"/>
          <a:ext cx="319466" cy="319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4D96B-A911-4B3B-9AD3-039D07A477E7}">
      <dsp:nvSpPr>
        <dsp:cNvPr id="0" name=""/>
        <dsp:cNvSpPr/>
      </dsp:nvSpPr>
      <dsp:spPr>
        <a:xfrm>
          <a:off x="670879" y="2179543"/>
          <a:ext cx="3716288" cy="58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3" tIns="61473" rIns="61473" bIns="614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Simple, cost-effective, and easy to implement </a:t>
          </a:r>
        </a:p>
      </dsp:txBody>
      <dsp:txXfrm>
        <a:off x="670879" y="2179543"/>
        <a:ext cx="3716288" cy="580848"/>
      </dsp:txXfrm>
    </dsp:sp>
    <dsp:sp modelId="{B4F06B37-603C-44F5-ABC4-1257DB4390D6}">
      <dsp:nvSpPr>
        <dsp:cNvPr id="0" name=""/>
        <dsp:cNvSpPr/>
      </dsp:nvSpPr>
      <dsp:spPr>
        <a:xfrm>
          <a:off x="0" y="2905603"/>
          <a:ext cx="4387168" cy="5808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3F394-DC0C-44CE-8CEC-666236CAB5A7}">
      <dsp:nvSpPr>
        <dsp:cNvPr id="0" name=""/>
        <dsp:cNvSpPr/>
      </dsp:nvSpPr>
      <dsp:spPr>
        <a:xfrm>
          <a:off x="175706" y="3036294"/>
          <a:ext cx="319466" cy="319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B72DA-FEAB-451B-A619-746686324BA2}">
      <dsp:nvSpPr>
        <dsp:cNvPr id="0" name=""/>
        <dsp:cNvSpPr/>
      </dsp:nvSpPr>
      <dsp:spPr>
        <a:xfrm>
          <a:off x="670879" y="2905603"/>
          <a:ext cx="3716288" cy="58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3" tIns="61473" rIns="61473" bIns="614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Suitable for small-scale traffic management and educational use </a:t>
          </a:r>
        </a:p>
      </dsp:txBody>
      <dsp:txXfrm>
        <a:off x="670879" y="2905603"/>
        <a:ext cx="3716288" cy="580848"/>
      </dsp:txXfrm>
    </dsp:sp>
    <dsp:sp modelId="{3468C5E7-AAC1-4BFC-81DC-9F9BEEEAF2A5}">
      <dsp:nvSpPr>
        <dsp:cNvPr id="0" name=""/>
        <dsp:cNvSpPr/>
      </dsp:nvSpPr>
      <dsp:spPr>
        <a:xfrm>
          <a:off x="0" y="3631663"/>
          <a:ext cx="4387168" cy="5808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FCD46-2DFB-4998-8902-075B37B7C669}">
      <dsp:nvSpPr>
        <dsp:cNvPr id="0" name=""/>
        <dsp:cNvSpPr/>
      </dsp:nvSpPr>
      <dsp:spPr>
        <a:xfrm>
          <a:off x="175706" y="3762354"/>
          <a:ext cx="319466" cy="319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CA10F-6FEA-46C8-A8AC-DA2D72087F60}">
      <dsp:nvSpPr>
        <dsp:cNvPr id="0" name=""/>
        <dsp:cNvSpPr/>
      </dsp:nvSpPr>
      <dsp:spPr>
        <a:xfrm>
          <a:off x="670879" y="3631663"/>
          <a:ext cx="3716288" cy="58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3" tIns="61473" rIns="61473" bIns="614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Provides practical understanding of timer and counter circuits </a:t>
          </a:r>
        </a:p>
      </dsp:txBody>
      <dsp:txXfrm>
        <a:off x="670879" y="3631663"/>
        <a:ext cx="3716288" cy="580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00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6E02F-CD45-4BD8-A98D-FF500B2D09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58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C72A3-7A70-4BDC-B222-DAAAD666368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EA48-B4EF-42A1-86A4-AC88D877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3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C72A3-7A70-4BDC-B222-DAAAD666368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EA48-B4EF-42A1-86A4-AC88D877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1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6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3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2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2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8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8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5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8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5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869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4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3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7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6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1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9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80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6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6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4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1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3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6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2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981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1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603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7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1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0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9180-0C8B-4BE8-94D0-859A86F9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E0507-6F6E-476A-8893-842FAF484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BCEA1-F303-4495-9BD6-4C16965C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524A-EA62-441B-BF99-490E97FB2CD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4EA27-47B2-4CF3-A876-C97063CF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F5C43-68DC-4981-9B4C-FE1161521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B957D-3CE1-42F9-AB1C-D149D774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3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95" r:id="rId4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 sz="135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29D10BB-3F0D-4D45-8488-049528508E0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588D9-A6A7-41F4-8C74-0EA2153BF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67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7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0976" y="4443026"/>
            <a:ext cx="2650355" cy="326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r>
              <a:rPr lang="en-AE" sz="1200" b="1" dirty="0">
                <a:solidFill>
                  <a:schemeClr val="bg1"/>
                </a:solidFill>
              </a:rPr>
              <a:t>ASHIQUR</a:t>
            </a:r>
            <a:r>
              <a:rPr lang="en-AE" sz="1200" b="1" dirty="0"/>
              <a:t> </a:t>
            </a:r>
            <a:r>
              <a:rPr lang="en-AE" sz="1200" b="1" dirty="0">
                <a:solidFill>
                  <a:schemeClr val="bg1"/>
                </a:solidFill>
              </a:rPr>
              <a:t>RAHMAN : 24-55921-1</a:t>
            </a:r>
          </a:p>
          <a:p>
            <a:endParaRPr lang="en-AE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862774" cy="1645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2862774" y="0"/>
            <a:ext cx="2862773" cy="162835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5725548" y="0"/>
            <a:ext cx="3418451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740804"/>
            <a:ext cx="2084832" cy="41055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86059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20040" y="15087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555 Timer &amp; CD4017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23557" y="2114374"/>
            <a:ext cx="53035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57" y="21945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" y="22357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Digital Logic Circuit Lab</a:t>
            </a: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64683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2164" y="272719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Samiha Ishrat Islam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57" y="325807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2164" y="3325604"/>
            <a:ext cx="5042564" cy="213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79589" y="3669987"/>
            <a:ext cx="182880" cy="18288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4"/>
          <p:cNvSpPr/>
          <p:nvPr/>
        </p:nvSpPr>
        <p:spPr>
          <a:xfrm>
            <a:off x="853910" y="3685032"/>
            <a:ext cx="152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ASHIFUL ISLAM NABIL : </a:t>
            </a: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24-55928-1 </a:t>
            </a:r>
            <a:endParaRPr lang="en-US" sz="1200" b="1" dirty="0"/>
          </a:p>
        </p:txBody>
      </p:sp>
      <p:sp>
        <p:nvSpPr>
          <p:cNvPr id="21" name="Shape 15"/>
          <p:cNvSpPr/>
          <p:nvPr/>
        </p:nvSpPr>
        <p:spPr>
          <a:xfrm>
            <a:off x="579589" y="4048887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16"/>
          <p:cNvSpPr/>
          <p:nvPr/>
        </p:nvSpPr>
        <p:spPr>
          <a:xfrm>
            <a:off x="853910" y="4137660"/>
            <a:ext cx="15717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JAKARIA ISLAM RAAD :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24-55949-1</a:t>
            </a:r>
            <a:r>
              <a:rPr lang="en-US" sz="1200" b="1" dirty="0"/>
              <a:t> 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3" name="Shape 17"/>
          <p:cNvSpPr/>
          <p:nvPr/>
        </p:nvSpPr>
        <p:spPr>
          <a:xfrm>
            <a:off x="585217" y="4517136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18"/>
          <p:cNvSpPr/>
          <p:nvPr/>
        </p:nvSpPr>
        <p:spPr>
          <a:xfrm>
            <a:off x="858590" y="4480560"/>
            <a:ext cx="16814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NITOL KUNDU: </a:t>
            </a:r>
            <a:r>
              <a:rPr lang="en-US" sz="1200" b="1" dirty="0">
                <a:solidFill>
                  <a:schemeClr val="bg1"/>
                </a:solidFill>
              </a:rPr>
              <a:t>22-48169-2</a:t>
            </a:r>
          </a:p>
        </p:txBody>
      </p:sp>
      <p:sp>
        <p:nvSpPr>
          <p:cNvPr id="25" name="Shape 19"/>
          <p:cNvSpPr/>
          <p:nvPr/>
        </p:nvSpPr>
        <p:spPr>
          <a:xfrm>
            <a:off x="3342484" y="3626299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0"/>
          <p:cNvSpPr/>
          <p:nvPr/>
        </p:nvSpPr>
        <p:spPr>
          <a:xfrm>
            <a:off x="3567565" y="3669030"/>
            <a:ext cx="2446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SHEIKH MAHFUZUR RAHMAN : 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24-55917-1</a:t>
            </a:r>
          </a:p>
        </p:txBody>
      </p:sp>
      <p:sp>
        <p:nvSpPr>
          <p:cNvPr id="27" name="Shape 21"/>
          <p:cNvSpPr/>
          <p:nvPr/>
        </p:nvSpPr>
        <p:spPr>
          <a:xfrm>
            <a:off x="3328415" y="4048887"/>
            <a:ext cx="182880" cy="1828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2"/>
          <p:cNvSpPr/>
          <p:nvPr/>
        </p:nvSpPr>
        <p:spPr>
          <a:xfrm>
            <a:off x="3567565" y="4109720"/>
            <a:ext cx="2376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MOHAMMED ALI KHORASANI : 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24-55920-1</a:t>
            </a:r>
          </a:p>
        </p:txBody>
      </p:sp>
      <p:sp>
        <p:nvSpPr>
          <p:cNvPr id="29" name="Shape 23"/>
          <p:cNvSpPr/>
          <p:nvPr/>
        </p:nvSpPr>
        <p:spPr>
          <a:xfrm>
            <a:off x="0" y="4846320"/>
            <a:ext cx="6217920" cy="297180"/>
          </a:xfrm>
          <a:prstGeom prst="rect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7CD1794A-526B-0433-8740-428A3A8C0C19}"/>
              </a:ext>
            </a:extLst>
          </p:cNvPr>
          <p:cNvSpPr/>
          <p:nvPr/>
        </p:nvSpPr>
        <p:spPr>
          <a:xfrm>
            <a:off x="206559" y="212247"/>
            <a:ext cx="8937440" cy="773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American International University Bangladesh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2D86D0D-4A99-028F-0576-E7E8C2A4C8D9}"/>
              </a:ext>
            </a:extLst>
          </p:cNvPr>
          <p:cNvSpPr/>
          <p:nvPr/>
        </p:nvSpPr>
        <p:spPr>
          <a:xfrm>
            <a:off x="3310479" y="4480559"/>
            <a:ext cx="231395" cy="23177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228600" y="256032"/>
            <a:ext cx="475488" cy="475488"/>
          </a:xfrm>
          <a:prstGeom prst="ellipse">
            <a:avLst/>
          </a:prstGeom>
          <a:solidFill>
            <a:srgbClr val="E24B4A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667512" y="256032"/>
            <a:ext cx="475488" cy="475488"/>
          </a:xfrm>
          <a:prstGeom prst="ellipse">
            <a:avLst/>
          </a:prstGeom>
          <a:solidFill>
            <a:srgbClr val="F5A623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106424" y="256032"/>
            <a:ext cx="475488" cy="475488"/>
          </a:xfrm>
          <a:prstGeom prst="ellipse">
            <a:avLst/>
          </a:prstGeom>
          <a:solidFill>
            <a:srgbClr val="27AE60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554480" y="91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0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|  Slide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3977640" cy="38404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11155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8600" y="1517904"/>
            <a:ext cx="397764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007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" y="1664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Traffic Control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68096" y="1984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officers control traffic manually — slow, tiring and error-prone during busy hours.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" y="2578608"/>
            <a:ext cx="3657600" cy="0"/>
          </a:xfrm>
          <a:prstGeom prst="line">
            <a:avLst/>
          </a:prstGeom>
          <a:noFill/>
          <a:ln w="635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066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96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Flow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68096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timing, vehicles pile up causing traffic jams and road accidents.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47472" y="3584448"/>
            <a:ext cx="3657600" cy="0"/>
          </a:xfrm>
          <a:prstGeom prst="line">
            <a:avLst/>
          </a:prstGeom>
          <a:noFill/>
          <a:ln w="635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71246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" y="3675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Timing System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68096" y="39959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signal timing means unpredictable stops, wasting fuel and driver time.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80560" y="1115568"/>
            <a:ext cx="44348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143000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10328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4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536192"/>
            <a:ext cx="1097280" cy="23774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480560" y="1517904"/>
            <a:ext cx="443484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1700784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10912" y="16642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Automated Traffic Light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5010912" y="1984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traffic light that automatically cycles Red → Yellow → Green using hardware only.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4590288" y="2578608"/>
            <a:ext cx="3291840" cy="0"/>
          </a:xfrm>
          <a:prstGeom prst="line">
            <a:avLst/>
          </a:prstGeom>
          <a:noFill/>
          <a:ln w="6350">
            <a:solidFill>
              <a:srgbClr val="BBEE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706624"/>
            <a:ext cx="347472" cy="3474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010912" y="2670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/ No Microcontroller</a:t>
            </a:r>
            <a:endParaRPr lang="en-US" sz="1250" dirty="0"/>
          </a:p>
        </p:txBody>
      </p:sp>
      <p:sp>
        <p:nvSpPr>
          <p:cNvPr id="34" name="Text 24"/>
          <p:cNvSpPr/>
          <p:nvPr/>
        </p:nvSpPr>
        <p:spPr>
          <a:xfrm>
            <a:off x="5010912" y="2990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pure Digital Logic Circuit (DLC) approach — only ICs, resistors, capacitors and LEDs.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590288" y="3584448"/>
            <a:ext cx="3291840" cy="0"/>
          </a:xfrm>
          <a:prstGeom prst="line">
            <a:avLst/>
          </a:prstGeom>
          <a:noFill/>
          <a:ln w="6350">
            <a:solidFill>
              <a:srgbClr val="BBEE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3712464"/>
            <a:ext cx="347472" cy="34747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10912" y="3675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+ Counter Theory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5010912" y="3995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555 Timer IC (astable mode) and CD4017 Decade Counter to control timing and light sequence.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A232-122E-285D-B746-DD02C1E0B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26314"/>
            <a:ext cx="6858000" cy="540782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>
                <a:solidFill>
                  <a:srgbClr val="002060"/>
                </a:solidFill>
              </a:rPr>
              <a:t>How the System Works: Logic View</a:t>
            </a:r>
            <a:endParaRPr lang="en-US" sz="2800" b="1" u="sng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B6F89-3BFA-9BB3-4F02-AF04DA002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966978"/>
            <a:ext cx="6858000" cy="3641598"/>
          </a:xfrm>
        </p:spPr>
        <p:txBody>
          <a:bodyPr>
            <a:normAutofit/>
          </a:bodyPr>
          <a:lstStyle/>
          <a:p>
            <a:pPr algn="l"/>
            <a:r>
              <a:rPr lang="en-US" sz="1500" b="1">
                <a:solidFill>
                  <a:schemeClr val="tx1"/>
                </a:solidFill>
              </a:rPr>
              <a:t>Sequential Logic Circuit :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The system operates as a Finite State Machine (FSM) where states change based on a clock trigger. 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Output depends on the current state and the incoming pulse. </a:t>
            </a:r>
          </a:p>
          <a:p>
            <a:pPr algn="l"/>
            <a:r>
              <a:rPr lang="en-US" sz="1500" b="1">
                <a:solidFill>
                  <a:schemeClr val="tx1"/>
                </a:solidFill>
              </a:rPr>
              <a:t>Clock Signal ( 1Hz Pulse ) :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Uses a 1Hz continuous square wave (1 pulse per second) for timing synchronization.</a:t>
            </a:r>
          </a:p>
          <a:p>
            <a:pPr algn="l"/>
            <a:r>
              <a:rPr lang="en-US" sz="1500" b="1">
                <a:solidFill>
                  <a:schemeClr val="tx1"/>
                </a:solidFill>
              </a:rPr>
              <a:t>Counter-Based State Control :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CD4017 Decade Counter sequences through 10 distinct states (Q0–Q9). 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Only one output is HIGH at a time, shifting step-by-step with each pulse.</a:t>
            </a:r>
            <a:endParaRPr lang="en-US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93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F85C2-F4BF-0DAD-76ED-8402A77C0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273843"/>
            <a:ext cx="3971261" cy="1547856"/>
          </a:xfrm>
        </p:spPr>
        <p:txBody>
          <a:bodyPr anchor="b">
            <a:normAutofit/>
          </a:bodyPr>
          <a:lstStyle/>
          <a:p>
            <a:r>
              <a:rPr lang="en-US" sz="4100"/>
              <a:t>Apparatus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987635"/>
            <a:ext cx="3257550" cy="13716"/>
          </a:xfrm>
          <a:custGeom>
            <a:avLst/>
            <a:gdLst>
              <a:gd name="csX0" fmla="*/ 0 w 3257550"/>
              <a:gd name="csY0" fmla="*/ 0 h 13716"/>
              <a:gd name="csX1" fmla="*/ 618935 w 3257550"/>
              <a:gd name="csY1" fmla="*/ 0 h 13716"/>
              <a:gd name="csX2" fmla="*/ 1270445 w 3257550"/>
              <a:gd name="csY2" fmla="*/ 0 h 13716"/>
              <a:gd name="csX3" fmla="*/ 1954530 w 3257550"/>
              <a:gd name="csY3" fmla="*/ 0 h 13716"/>
              <a:gd name="csX4" fmla="*/ 2638616 w 3257550"/>
              <a:gd name="csY4" fmla="*/ 0 h 13716"/>
              <a:gd name="csX5" fmla="*/ 3257550 w 3257550"/>
              <a:gd name="csY5" fmla="*/ 0 h 13716"/>
              <a:gd name="csX6" fmla="*/ 3257550 w 3257550"/>
              <a:gd name="csY6" fmla="*/ 13716 h 13716"/>
              <a:gd name="csX7" fmla="*/ 2540889 w 3257550"/>
              <a:gd name="csY7" fmla="*/ 13716 h 13716"/>
              <a:gd name="csX8" fmla="*/ 1824228 w 3257550"/>
              <a:gd name="csY8" fmla="*/ 13716 h 13716"/>
              <a:gd name="csX9" fmla="*/ 1172718 w 3257550"/>
              <a:gd name="csY9" fmla="*/ 13716 h 13716"/>
              <a:gd name="csX10" fmla="*/ 0 w 3257550"/>
              <a:gd name="csY10" fmla="*/ 13716 h 13716"/>
              <a:gd name="csX11" fmla="*/ 0 w 3257550"/>
              <a:gd name="csY11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3716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7070" y="2989"/>
                  <a:pt x="3256909" y="10166"/>
                  <a:pt x="3257550" y="13716"/>
                </a:cubicBezTo>
                <a:cubicBezTo>
                  <a:pt x="2955505" y="25346"/>
                  <a:pt x="2697243" y="37148"/>
                  <a:pt x="2540889" y="13716"/>
                </a:cubicBezTo>
                <a:cubicBezTo>
                  <a:pt x="2384535" y="-9716"/>
                  <a:pt x="2114539" y="1659"/>
                  <a:pt x="1824228" y="13716"/>
                </a:cubicBezTo>
                <a:cubicBezTo>
                  <a:pt x="1533917" y="25773"/>
                  <a:pt x="1462450" y="19465"/>
                  <a:pt x="1172718" y="13716"/>
                </a:cubicBezTo>
                <a:cubicBezTo>
                  <a:pt x="882986" y="7968"/>
                  <a:pt x="500637" y="19920"/>
                  <a:pt x="0" y="13716"/>
                </a:cubicBezTo>
                <a:cubicBezTo>
                  <a:pt x="182" y="9317"/>
                  <a:pt x="482" y="5285"/>
                  <a:pt x="0" y="0"/>
                </a:cubicBezTo>
                <a:close/>
              </a:path>
              <a:path w="3257550" h="13716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058" y="2764"/>
                  <a:pt x="3257248" y="8747"/>
                  <a:pt x="3257550" y="13716"/>
                </a:cubicBezTo>
                <a:cubicBezTo>
                  <a:pt x="3005417" y="-174"/>
                  <a:pt x="2789824" y="18921"/>
                  <a:pt x="2606040" y="13716"/>
                </a:cubicBezTo>
                <a:cubicBezTo>
                  <a:pt x="2422256" y="8512"/>
                  <a:pt x="2161816" y="12473"/>
                  <a:pt x="1889379" y="13716"/>
                </a:cubicBezTo>
                <a:cubicBezTo>
                  <a:pt x="1616942" y="14959"/>
                  <a:pt x="1456938" y="23973"/>
                  <a:pt x="1335595" y="13716"/>
                </a:cubicBezTo>
                <a:cubicBezTo>
                  <a:pt x="1214252" y="3459"/>
                  <a:pt x="876335" y="21723"/>
                  <a:pt x="684085" y="13716"/>
                </a:cubicBezTo>
                <a:cubicBezTo>
                  <a:pt x="491835" y="5710"/>
                  <a:pt x="213058" y="-1140"/>
                  <a:pt x="0" y="13716"/>
                </a:cubicBezTo>
                <a:cubicBezTo>
                  <a:pt x="614" y="9981"/>
                  <a:pt x="600" y="54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BE9D-5016-A50A-2D95-C16589AE9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6" y="2181003"/>
            <a:ext cx="3971261" cy="2451718"/>
          </a:xfrm>
        </p:spPr>
        <p:txBody>
          <a:bodyPr>
            <a:normAutofit/>
          </a:bodyPr>
          <a:lstStyle/>
          <a:p>
            <a:pPr lvl="0"/>
            <a:r>
              <a:rPr lang="en-AE" sz="1700"/>
              <a:t>555 Timer IC </a:t>
            </a:r>
            <a:endParaRPr lang="en-US" sz="1700"/>
          </a:p>
          <a:p>
            <a:pPr lvl="0"/>
            <a:r>
              <a:rPr lang="en-AE" sz="1700"/>
              <a:t>CD4017 Counter IC </a:t>
            </a:r>
            <a:endParaRPr lang="en-US" sz="1700"/>
          </a:p>
          <a:p>
            <a:pPr lvl="0"/>
            <a:r>
              <a:rPr lang="en-AE" sz="1700"/>
              <a:t>LEDs (Red, Yellow, Green) </a:t>
            </a:r>
            <a:endParaRPr lang="en-US" sz="1700"/>
          </a:p>
          <a:p>
            <a:pPr lvl="0"/>
            <a:r>
              <a:rPr lang="en-AE" sz="1700"/>
              <a:t>Resistors, Capacitors </a:t>
            </a:r>
            <a:endParaRPr lang="en-US" sz="1700"/>
          </a:p>
          <a:p>
            <a:pPr lvl="0"/>
            <a:r>
              <a:rPr lang="en-AE" sz="1700"/>
              <a:t>Breadboard &amp; Power supply </a:t>
            </a:r>
            <a:endParaRPr lang="en-US" sz="1700"/>
          </a:p>
          <a:p>
            <a:endParaRPr lang="en-US" sz="17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DC140-97EF-0106-1597-6B1BD869B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297" y="289327"/>
            <a:ext cx="1952704" cy="2128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CA7A7-8D7A-C224-DEEB-6EC33C7EB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246" y="530894"/>
            <a:ext cx="1952703" cy="1645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04DC95-17FF-7C4B-8563-97D9D7BEC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642" y="2569693"/>
            <a:ext cx="3750961" cy="206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81EB-0E96-4260-B5AE-284B7FCD7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498"/>
            <a:ext cx="4000500" cy="12811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555 Timer 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5B16F-5405-4106-89B4-DB840A676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5" y="1852683"/>
            <a:ext cx="4000505" cy="28273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/>
            <a:r>
              <a:rPr lang="en-US" sz="1500"/>
              <a:t>Astable mode operation</a:t>
            </a:r>
          </a:p>
          <a:p>
            <a:pPr indent="-228600" defTabSz="914400"/>
            <a:r>
              <a:rPr lang="en-US" sz="1500"/>
              <a:t>Generates continuous clock pulses</a:t>
            </a:r>
          </a:p>
          <a:p>
            <a:pPr indent="-228600" defTabSz="914400"/>
            <a:r>
              <a:rPr lang="en-US" sz="1500"/>
              <a:t> 1 second interval</a:t>
            </a:r>
          </a:p>
          <a:p>
            <a:pPr indent="-228600" defTabSz="914400"/>
            <a:endParaRPr lang="en-US" sz="1500"/>
          </a:p>
          <a:p>
            <a:pPr indent="-228600" defTabSz="914400"/>
            <a:r>
              <a:rPr lang="en-US" sz="1500"/>
              <a:t>Acts like the heartbeat of the circuit</a:t>
            </a:r>
          </a:p>
          <a:p>
            <a:pPr indent="-228600" defTabSz="914400"/>
            <a:r>
              <a:rPr lang="en-US" sz="1500"/>
              <a:t> It continuously sends timing signals to control the circuit</a:t>
            </a:r>
          </a:p>
        </p:txBody>
      </p:sp>
      <p:pic>
        <p:nvPicPr>
          <p:cNvPr id="1028" name="Picture 4" descr="555 Pin Diagram / Pin Configuration of 555 Timer IC">
            <a:extLst>
              <a:ext uri="{FF2B5EF4-FFF2-40B4-BE49-F238E27FC236}">
                <a16:creationId xmlns:a16="http://schemas.microsoft.com/office/drawing/2014/main" id="{9C865F9A-11FE-4728-9113-50B170446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05908" y="1862639"/>
            <a:ext cx="2818534" cy="14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20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D4017 - A Decade Counter with Decoded Output">
            <a:extLst>
              <a:ext uri="{FF2B5EF4-FFF2-40B4-BE49-F238E27FC236}">
                <a16:creationId xmlns:a16="http://schemas.microsoft.com/office/drawing/2014/main" id="{78BE340D-0438-44F4-844B-4C8ECD66C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0" r="5683" b="3"/>
          <a:stretch>
            <a:fillRect/>
          </a:stretch>
        </p:blipFill>
        <p:spPr bwMode="auto">
          <a:xfrm>
            <a:off x="20" y="-1"/>
            <a:ext cx="4057627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5EEB29-9BAE-4364-A57C-A521AD38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304263"/>
            <a:ext cx="4098726" cy="11694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/>
              <a:t>CD4017 Counter 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F67B0-AC4F-4EA6-937F-F0214CA58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87" y="2057400"/>
            <a:ext cx="3935505" cy="2622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/>
            <a:r>
              <a:rPr lang="en-US" sz="1500"/>
              <a:t>Decade counter (Q0–Q9)</a:t>
            </a:r>
          </a:p>
          <a:p>
            <a:pPr indent="-228600" defTabSz="914400"/>
            <a:r>
              <a:rPr lang="en-US" sz="1500"/>
              <a:t>One output HIGH at a time</a:t>
            </a:r>
          </a:p>
          <a:p>
            <a:pPr indent="-228600" defTabSz="914400"/>
            <a:r>
              <a:rPr lang="en-US" sz="1500"/>
              <a:t>Moves step-by-step with clock</a:t>
            </a:r>
          </a:p>
          <a:p>
            <a:pPr indent="-228600" defTabSz="914400"/>
            <a:endParaRPr lang="en-US" sz="1500"/>
          </a:p>
          <a:p>
            <a:pPr indent="-228600" defTabSz="914400"/>
            <a:r>
              <a:rPr lang="en-US" sz="1500"/>
              <a:t>Shifts output from Q0 → Q1 → Q2 →… → Q9 → Q2 </a:t>
            </a:r>
          </a:p>
          <a:p>
            <a:pPr indent="-228600" defTabSz="914400"/>
            <a:r>
              <a:rPr lang="en-US" sz="1500"/>
              <a:t>Each clock pulse activates the next output</a:t>
            </a:r>
          </a:p>
        </p:txBody>
      </p:sp>
    </p:spTree>
    <p:extLst>
      <p:ext uri="{BB962C8B-B14F-4D97-AF65-F5344CB8AC3E}">
        <p14:creationId xmlns:p14="http://schemas.microsoft.com/office/powerpoint/2010/main" val="154593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03A4AF-48C6-0260-E71B-B4C0C4CB16A5}"/>
              </a:ext>
            </a:extLst>
          </p:cNvPr>
          <p:cNvSpPr txBox="1"/>
          <p:nvPr/>
        </p:nvSpPr>
        <p:spPr>
          <a:xfrm>
            <a:off x="419196" y="132891"/>
            <a:ext cx="6802261" cy="801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Circuit Design: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7BAF1-9CDB-43D5-2DF1-879FA6A89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96" y="1109984"/>
            <a:ext cx="6240684" cy="358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5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F09C3-3FAA-1916-1FAD-EFFFBE0B7D7C}"/>
              </a:ext>
            </a:extLst>
          </p:cNvPr>
          <p:cNvSpPr txBox="1"/>
          <p:nvPr/>
        </p:nvSpPr>
        <p:spPr>
          <a:xfrm>
            <a:off x="553673" y="223976"/>
            <a:ext cx="286903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15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Breadboard Implementation</a:t>
            </a:r>
            <a:r>
              <a:rPr lang="en-US" sz="1350" b="1" dirty="0">
                <a:solidFill>
                  <a:prstClr val="white"/>
                </a:solidFill>
                <a:latin typeface="Century Gothic" panose="020B0502020202020204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A5FDF-E97D-C830-D9A5-D4DC480A248E}"/>
              </a:ext>
            </a:extLst>
          </p:cNvPr>
          <p:cNvSpPr txBox="1"/>
          <p:nvPr/>
        </p:nvSpPr>
        <p:spPr>
          <a:xfrm>
            <a:off x="553674" y="704676"/>
            <a:ext cx="3649211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15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15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555 Timer generates clock pulses (~1 sec) </a:t>
            </a: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Output connected to CD4017 clock input </a:t>
            </a: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Counter outputs drive LEDs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6B0A4-5D4E-38BC-C740-BD8020AFEE7F}"/>
              </a:ext>
            </a:extLst>
          </p:cNvPr>
          <p:cNvSpPr txBox="1"/>
          <p:nvPr/>
        </p:nvSpPr>
        <p:spPr>
          <a:xfrm>
            <a:off x="667974" y="1989239"/>
            <a:ext cx="25607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endParaRPr lang="en-US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3318A8-F687-15AD-A5FF-2EE133F282D9}"/>
              </a:ext>
            </a:extLst>
          </p:cNvPr>
          <p:cNvSpPr txBox="1"/>
          <p:nvPr/>
        </p:nvSpPr>
        <p:spPr>
          <a:xfrm>
            <a:off x="553674" y="1843481"/>
            <a:ext cx="2416030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15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Mapping:</a:t>
            </a:r>
            <a:endParaRPr lang="en-US" sz="15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Q0–Q3 → 🔴 Red </a:t>
            </a: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Q4–Q7 → 🟢 Green </a:t>
            </a: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Q8–Q9 → 🟡 Yellow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C3C2-0C30-2320-B37C-8BCA6972306C}"/>
              </a:ext>
            </a:extLst>
          </p:cNvPr>
          <p:cNvSpPr txBox="1"/>
          <p:nvPr/>
        </p:nvSpPr>
        <p:spPr>
          <a:xfrm>
            <a:off x="553673" y="2982286"/>
            <a:ext cx="2623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5V DC power supply </a:t>
            </a: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•Proper pin connections </a:t>
            </a: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•Resistors used with LEDs </a:t>
            </a:r>
          </a:p>
          <a:p>
            <a:pPr defTabSz="342900"/>
            <a:r>
              <a:rPr lang="en-US" sz="135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•Capacitors ensure stable timing</a:t>
            </a:r>
          </a:p>
        </p:txBody>
      </p:sp>
    </p:spTree>
    <p:extLst>
      <p:ext uri="{BB962C8B-B14F-4D97-AF65-F5344CB8AC3E}">
        <p14:creationId xmlns:p14="http://schemas.microsoft.com/office/powerpoint/2010/main" val="56667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42" y="91282"/>
            <a:ext cx="3643273" cy="1373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Result &amp; output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4511" y="997314"/>
            <a:ext cx="5361967" cy="351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2348"/>
              </a:lnSpc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Output Sequence:</a:t>
            </a:r>
          </a:p>
          <a:p>
            <a:pPr defTabSz="457200">
              <a:lnSpc>
                <a:spcPts val="2348"/>
              </a:lnSpc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RED → GREEN → YELLOW → Repeat</a:t>
            </a:r>
          </a:p>
          <a:p>
            <a:pPr defTabSz="457200">
              <a:lnSpc>
                <a:spcPts val="2348"/>
              </a:lnSpc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Timing:</a:t>
            </a:r>
          </a:p>
          <a:p>
            <a:pPr marL="362128" lvl="1" indent="-181064" defTabSz="457200">
              <a:lnSpc>
                <a:spcPts val="2348"/>
              </a:lnSpc>
              <a:buFont typeface="Arial"/>
              <a:buChar char="•"/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🔴 RED = 4 sec</a:t>
            </a:r>
          </a:p>
          <a:p>
            <a:pPr marL="362128" lvl="1" indent="-181064" defTabSz="457200">
              <a:lnSpc>
                <a:spcPts val="2348"/>
              </a:lnSpc>
              <a:buFont typeface="Arial"/>
              <a:buChar char="•"/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🟢 GREEN = 4 sec</a:t>
            </a:r>
          </a:p>
          <a:p>
            <a:pPr marL="362128" lvl="1" indent="-181064" defTabSz="457200">
              <a:lnSpc>
                <a:spcPts val="2348"/>
              </a:lnSpc>
              <a:buFont typeface="Arial"/>
              <a:buChar char="•"/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🟡 YELLOW = 2 sec</a:t>
            </a:r>
          </a:p>
          <a:p>
            <a:pPr defTabSz="457200">
              <a:lnSpc>
                <a:spcPts val="2348"/>
              </a:lnSpc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Result:</a:t>
            </a:r>
          </a:p>
          <a:p>
            <a:pPr marL="362128" lvl="1" indent="-181064" defTabSz="457200">
              <a:lnSpc>
                <a:spcPts val="2348"/>
              </a:lnSpc>
              <a:buFont typeface="Arial"/>
              <a:buChar char="•"/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Fully automatic traffic control system</a:t>
            </a:r>
          </a:p>
          <a:p>
            <a:pPr marL="362128" lvl="1" indent="-181064" defTabSz="457200">
              <a:lnSpc>
                <a:spcPts val="2348"/>
              </a:lnSpc>
              <a:buFont typeface="Arial"/>
              <a:buChar char="•"/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No manual switching required</a:t>
            </a:r>
          </a:p>
          <a:p>
            <a:pPr marL="362128" lvl="1" indent="-181064" defTabSz="457200">
              <a:lnSpc>
                <a:spcPts val="2348"/>
              </a:lnSpc>
              <a:buFont typeface="Arial"/>
              <a:buChar char="•"/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Smooth traffic light transition</a:t>
            </a:r>
          </a:p>
          <a:p>
            <a:pPr marL="362128" lvl="1" indent="-181064" defTabSz="457200">
              <a:lnSpc>
                <a:spcPts val="2348"/>
              </a:lnSpc>
              <a:buFont typeface="Arial"/>
              <a:buChar char="•"/>
            </a:pPr>
            <a:r>
              <a:rPr lang="en-US" sz="1677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Low-cost and easy to build</a:t>
            </a:r>
          </a:p>
          <a:p>
            <a:pPr defTabSz="457200">
              <a:lnSpc>
                <a:spcPts val="2348"/>
              </a:lnSpc>
              <a:spcBef>
                <a:spcPct val="0"/>
              </a:spcBef>
            </a:pPr>
            <a:endParaRPr lang="en-US" sz="1677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4" name="Freeform 4"/>
          <p:cNvSpPr/>
          <p:nvPr/>
        </p:nvSpPr>
        <p:spPr>
          <a:xfrm rot="5400000">
            <a:off x="6243652" y="-190950"/>
            <a:ext cx="797289" cy="1731640"/>
          </a:xfrm>
          <a:custGeom>
            <a:avLst/>
            <a:gdLst/>
            <a:ahLst/>
            <a:cxnLst/>
            <a:rect l="l" t="t" r="r" b="b"/>
            <a:pathLst>
              <a:path w="1594577" h="3463279">
                <a:moveTo>
                  <a:pt x="0" y="0"/>
                </a:moveTo>
                <a:lnTo>
                  <a:pt x="1594577" y="0"/>
                </a:lnTo>
                <a:lnTo>
                  <a:pt x="1594577" y="3463279"/>
                </a:lnTo>
                <a:lnTo>
                  <a:pt x="0" y="3463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/>
            <a:endParaRPr lang="en-AE" sz="9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272" y="644236"/>
            <a:ext cx="3439550" cy="1740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Boston Angel"/>
              </a:rPr>
              <a:t>Conclusion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60365000-ABBF-AB72-BE9F-2536D045F2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1445140"/>
              </p:ext>
            </p:extLst>
          </p:nvPr>
        </p:nvGraphicFramePr>
        <p:xfrm>
          <a:off x="4026126" y="450993"/>
          <a:ext cx="4387168" cy="4213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erial view of a highway near the ocean">
            <a:extLst>
              <a:ext uri="{FF2B5EF4-FFF2-40B4-BE49-F238E27FC236}">
                <a16:creationId xmlns:a16="http://schemas.microsoft.com/office/drawing/2014/main" id="{367E02F0-C44A-3DBE-092B-025FEEF96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>
            <a:fillRect/>
          </a:stretch>
        </p:blipFill>
        <p:spPr>
          <a:xfrm>
            <a:off x="-2286" y="10"/>
            <a:ext cx="9143999" cy="51434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55701"/>
            <a:ext cx="9143999" cy="237161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4"/>
          <p:cNvSpPr txBox="1"/>
          <p:nvPr/>
        </p:nvSpPr>
        <p:spPr>
          <a:xfrm>
            <a:off x="797813" y="2592852"/>
            <a:ext cx="7543800" cy="16239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5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TC Edwardian Script"/>
              </a:rPr>
              <a:t>Thank you</a:t>
            </a:r>
          </a:p>
        </p:txBody>
      </p:sp>
      <p:sp>
        <p:nvSpPr>
          <p:cNvPr id="2" name="Freeform 2"/>
          <p:cNvSpPr/>
          <p:nvPr/>
        </p:nvSpPr>
        <p:spPr>
          <a:xfrm rot="5400000">
            <a:off x="6422625" y="-180496"/>
            <a:ext cx="797289" cy="1731640"/>
          </a:xfrm>
          <a:custGeom>
            <a:avLst/>
            <a:gdLst/>
            <a:ahLst/>
            <a:cxnLst/>
            <a:rect l="l" t="t" r="r" b="b"/>
            <a:pathLst>
              <a:path w="1594577" h="3463279">
                <a:moveTo>
                  <a:pt x="0" y="0"/>
                </a:moveTo>
                <a:lnTo>
                  <a:pt x="1594577" y="0"/>
                </a:lnTo>
                <a:lnTo>
                  <a:pt x="1594577" y="3463279"/>
                </a:lnTo>
                <a:lnTo>
                  <a:pt x="0" y="3463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/>
            <a:endParaRPr lang="en-AE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08480" y="6214927"/>
            <a:ext cx="6429632" cy="61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5253"/>
              </a:lnSpc>
              <a:spcBef>
                <a:spcPct val="0"/>
              </a:spcBef>
            </a:pPr>
            <a:endParaRPr lang="en-US" sz="3752" b="1" dirty="0">
              <a:solidFill>
                <a:srgbClr val="33858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</TotalTime>
  <Words>576</Words>
  <Application>Microsoft Office PowerPoint</Application>
  <PresentationFormat>On-screen Show (16:9)</PresentationFormat>
  <Paragraphs>98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Agrandir</vt:lpstr>
      <vt:lpstr>Arial</vt:lpstr>
      <vt:lpstr>Arimo Bold</vt:lpstr>
      <vt:lpstr>Boston Angel</vt:lpstr>
      <vt:lpstr>Calibri</vt:lpstr>
      <vt:lpstr>Century Gothic</vt:lpstr>
      <vt:lpstr>Times New Roman</vt:lpstr>
      <vt:lpstr>Trebuchet MS</vt:lpstr>
      <vt:lpstr>Wingdings 3</vt:lpstr>
      <vt:lpstr>Office Theme</vt:lpstr>
      <vt:lpstr>Ion</vt:lpstr>
      <vt:lpstr>Facet</vt:lpstr>
      <vt:lpstr>PowerPoint Presentation</vt:lpstr>
      <vt:lpstr>PowerPoint Presentation</vt:lpstr>
      <vt:lpstr>How the System Works: Logic View</vt:lpstr>
      <vt:lpstr>Apparatus</vt:lpstr>
      <vt:lpstr>555 Timer Working</vt:lpstr>
      <vt:lpstr>CD4017 Counter Working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Light Control – Member 1 Slides</dc:title>
  <dc:subject>PptxGenJS Presentation</dc:subject>
  <dc:creator>PptxGenJS</dc:creator>
  <cp:lastModifiedBy>skminhaz10129@gmail.com</cp:lastModifiedBy>
  <cp:revision>34</cp:revision>
  <dcterms:created xsi:type="dcterms:W3CDTF">2026-05-02T20:59:49Z</dcterms:created>
  <dcterms:modified xsi:type="dcterms:W3CDTF">2026-05-04T16:30:19Z</dcterms:modified>
</cp:coreProperties>
</file>